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5" r:id="rId7"/>
    <p:sldId id="266" r:id="rId8"/>
    <p:sldId id="26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rand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84815"/>
            <a:ext cx="7345017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33654"/>
            <a:ext cx="1051560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5DDD2"/>
                </a:solidFill>
                <a:latin typeface="Calibri"/>
              </a:defRPr>
            </a:pPr>
            <a:r>
              <a:rPr lang="en-US" sz="2800" b="1" dirty="0" err="1"/>
              <a:t>CodeAtlas</a:t>
            </a:r>
            <a:r>
              <a:rPr lang="en-US" sz="2800" dirty="0"/>
              <a:t> is a platform where developers explore, navigate, and understand software projects — like using a world atlas to explore places.</a:t>
            </a:r>
            <a:br>
              <a:rPr lang="en-US" sz="2400" dirty="0"/>
            </a:br>
            <a:br>
              <a:rPr lang="en-US" sz="2400" dirty="0"/>
            </a:br>
            <a:r>
              <a:rPr lang="en-US" sz="2800" dirty="0"/>
              <a:t>Upload any project zip. Explore overview → flow → modules → database → access — step by step.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3FBF6"/>
                </a:solidFill>
                <a:latin typeface="Calibri"/>
              </a:defRPr>
            </a:pPr>
            <a:r>
              <a:rPr sz="3600" dirty="0"/>
              <a:t>Why </a:t>
            </a:r>
            <a:r>
              <a:rPr sz="3600" dirty="0" err="1"/>
              <a:t>CodeAtlas</a:t>
            </a:r>
            <a:r>
              <a:rPr sz="3600" dirty="0"/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058400" cy="3559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sz="3200" dirty="0"/>
              <a:t>• Large projects are hard to understand quickly</a:t>
            </a:r>
          </a:p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sz="3200" dirty="0"/>
              <a:t>• Documentation is often missing or outdated</a:t>
            </a:r>
          </a:p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sz="3200" dirty="0"/>
              <a:t>• APIs, modules, database usage, and formulas are </a:t>
            </a:r>
            <a:r>
              <a:rPr lang="en-US" sz="3200" dirty="0"/>
              <a:t> </a:t>
            </a:r>
            <a:r>
              <a:rPr sz="3200" dirty="0"/>
              <a:t>scattered</a:t>
            </a:r>
          </a:p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sz="3200" dirty="0"/>
              <a:t>• New joiners waste days exploring blindly</a:t>
            </a:r>
          </a:p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sz="3200" dirty="0"/>
              <a:t>• Teams lack a shared, evidence-based view of the system</a:t>
            </a:r>
          </a:p>
        </p:txBody>
      </p:sp>
      <p:pic>
        <p:nvPicPr>
          <p:cNvPr id="8" name="Picture 7" descr="brand-logo.png">
            <a:extLst>
              <a:ext uri="{FF2B5EF4-FFF2-40B4-BE49-F238E27FC236}">
                <a16:creationId xmlns:a16="http://schemas.microsoft.com/office/drawing/2014/main" id="{73988FC4-303C-4D73-AC52-B2A8C0918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34" y="302898"/>
            <a:ext cx="1735566" cy="4321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51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3FBF6"/>
                </a:solidFill>
                <a:latin typeface="Calibri"/>
              </a:defRPr>
            </a:pPr>
            <a:r>
              <a:rPr sz="3600" dirty="0"/>
              <a:t>Meet </a:t>
            </a:r>
            <a:r>
              <a:rPr sz="3600" dirty="0" err="1"/>
              <a:t>CodeAtlas</a:t>
            </a:r>
            <a:endParaRPr sz="3600" dirty="0"/>
          </a:p>
        </p:txBody>
      </p:sp>
      <p:sp>
        <p:nvSpPr>
          <p:cNvPr id="7" name="TextBox 6"/>
          <p:cNvSpPr txBox="1"/>
          <p:nvPr/>
        </p:nvSpPr>
        <p:spPr>
          <a:xfrm>
            <a:off x="640080" y="1584192"/>
            <a:ext cx="10515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5DDD2"/>
                </a:solidFill>
                <a:latin typeface="Calibri"/>
              </a:defRPr>
            </a:pPr>
            <a:r>
              <a:rPr sz="3200" dirty="0"/>
              <a:t>Evidence-only AI that explains a codebase — without inventing roles, APIs, or tables.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02784"/>
            <a:ext cx="3474720" cy="320040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3599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EF0B0"/>
                </a:solidFill>
                <a:latin typeface="Calibri"/>
              </a:defRPr>
            </a:pPr>
            <a:r>
              <a:rPr dirty="0"/>
              <a:t>1.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91504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rPr dirty="0"/>
              <a:t>Zip → extract → disk + AI scan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902784"/>
            <a:ext cx="3474720" cy="320040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33599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EF0B0"/>
                </a:solidFill>
                <a:latin typeface="Calibri"/>
              </a:defRPr>
            </a:pPr>
            <a:r>
              <a:t>2. Explain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091504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t>Overview, flow, modules, formulas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902784"/>
            <a:ext cx="3474720" cy="320040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33599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EF0B0"/>
                </a:solidFill>
                <a:latin typeface="Calibri"/>
              </a:defRPr>
            </a:pPr>
            <a:r>
              <a:t>3. 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4091504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t>Live database + access map</a:t>
            </a:r>
          </a:p>
        </p:txBody>
      </p:sp>
      <p:pic>
        <p:nvPicPr>
          <p:cNvPr id="17" name="Picture 16" descr="brand-logo.png">
            <a:extLst>
              <a:ext uri="{FF2B5EF4-FFF2-40B4-BE49-F238E27FC236}">
                <a16:creationId xmlns:a16="http://schemas.microsoft.com/office/drawing/2014/main" id="{484B1BB1-CCCA-4EDD-98E2-8984547A3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34" y="302898"/>
            <a:ext cx="1735566" cy="432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51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3FBF6"/>
                </a:solidFill>
                <a:latin typeface="Calibri"/>
              </a:defRPr>
            </a:pPr>
            <a:r>
              <a:rPr lang="en-IN" sz="3600" dirty="0"/>
              <a:t>What </a:t>
            </a:r>
            <a:r>
              <a:rPr lang="en-IN" sz="3600" dirty="0" err="1"/>
              <a:t>CodeAtlas</a:t>
            </a:r>
            <a:r>
              <a:rPr lang="en-IN" sz="3600" dirty="0"/>
              <a:t> delivers?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07780"/>
            <a:ext cx="3474720" cy="201168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735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EF0B0"/>
                </a:solidFill>
                <a:latin typeface="Calibri"/>
              </a:defRPr>
            </a:pPr>
            <a: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679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5DDD2"/>
                </a:solidFill>
                <a:latin typeface="Calibri"/>
              </a:defRPr>
            </a:pPr>
            <a:r>
              <a:rPr dirty="0"/>
              <a:t>Zip → extract → 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07780"/>
            <a:ext cx="3474720" cy="201168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20735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EF0B0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6679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5DDD2"/>
                </a:solidFill>
                <a:latin typeface="Calibri"/>
              </a:defRPr>
            </a:pPr>
            <a:r>
              <a:t>Tech, modules, APIs, calcs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707780"/>
            <a:ext cx="3474720" cy="201168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9" y="20735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EF0B0"/>
                </a:solidFill>
                <a:latin typeface="Calibri"/>
              </a:defRPr>
            </a:pPr>
            <a:r>
              <a:t>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6679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5DDD2"/>
                </a:solidFill>
                <a:latin typeface="Calibri"/>
              </a:defRPr>
            </a:pPr>
            <a:r>
              <a:t>End-to-end business process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93780"/>
            <a:ext cx="3474720" cy="201168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3595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EF0B0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9539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5DDD2"/>
                </a:solidFill>
                <a:latin typeface="Calibri"/>
              </a:defRPr>
            </a:pPr>
            <a:r>
              <a:t>Feature deep-dives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993780"/>
            <a:ext cx="3474720" cy="201168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720" y="43595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EF0B0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9539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5DDD2"/>
                </a:solidFill>
                <a:latin typeface="Calibri"/>
              </a:defRPr>
            </a:pPr>
            <a:r>
              <a:t>Live schema + AI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3993780"/>
            <a:ext cx="3474720" cy="201168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59" y="43595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5EF0B0"/>
                </a:solidFill>
                <a:latin typeface="Calibri"/>
              </a:defRPr>
            </a:pPr>
            <a:r>
              <a:t>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9" y="49539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5DDD2"/>
                </a:solidFill>
                <a:latin typeface="Calibri"/>
              </a:defRPr>
            </a:pPr>
            <a:r>
              <a:t>Roles &amp; screen navigation</a:t>
            </a:r>
          </a:p>
        </p:txBody>
      </p:sp>
      <p:pic>
        <p:nvPicPr>
          <p:cNvPr id="25" name="Picture 24" descr="brand-logo.png">
            <a:extLst>
              <a:ext uri="{FF2B5EF4-FFF2-40B4-BE49-F238E27FC236}">
                <a16:creationId xmlns:a16="http://schemas.microsoft.com/office/drawing/2014/main" id="{A4709E00-435E-4768-A251-D0553CDEE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34" y="302898"/>
            <a:ext cx="1735566" cy="4321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51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3FBF6"/>
                </a:solidFill>
                <a:latin typeface="Calibri"/>
              </a:defRPr>
            </a:pPr>
            <a:r>
              <a:rPr sz="3600" dirty="0"/>
              <a:t>How it is built</a:t>
            </a:r>
            <a:r>
              <a:rPr lang="en-US" sz="3600" dirty="0"/>
              <a:t>?</a:t>
            </a:r>
            <a:endParaRPr sz="3600"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1697920"/>
            <a:ext cx="10789920" cy="7772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80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t>Next.js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80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t>Upload zip · guided report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12320"/>
            <a:ext cx="10789920" cy="7772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795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t>Express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952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t>Extract · scan · orchestrate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6720"/>
            <a:ext cx="10789920" cy="7772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709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t>Disk scanners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09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t>APIs · MVC · DB signals · formulas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41120"/>
            <a:ext cx="10789920" cy="7772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6240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t>AI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624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t>OpenAI / OpenRouter / Gemini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55520"/>
            <a:ext cx="10789920" cy="7772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5538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t>Local 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538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t>project.json under server/data/</a:t>
            </a:r>
          </a:p>
        </p:txBody>
      </p:sp>
      <p:pic>
        <p:nvPicPr>
          <p:cNvPr id="22" name="Picture 21" descr="brand-logo.png">
            <a:extLst>
              <a:ext uri="{FF2B5EF4-FFF2-40B4-BE49-F238E27FC236}">
                <a16:creationId xmlns:a16="http://schemas.microsoft.com/office/drawing/2014/main" id="{615EB41E-A634-4791-B046-D618CB6A0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34" y="302898"/>
            <a:ext cx="1735566" cy="4321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515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3FBF6"/>
                </a:solidFill>
                <a:latin typeface="Calibri"/>
              </a:defRPr>
            </a:pPr>
            <a:r>
              <a:rPr sz="3600" dirty="0"/>
              <a:t>Who it helps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35165"/>
            <a:ext cx="10789920" cy="10058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909485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rPr lang="en-IN" dirty="0"/>
              <a:t>Engineering teams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4572000" y="1909485"/>
            <a:ext cx="640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rPr lang="en-IN" dirty="0"/>
              <a:t>Shared view of modules, APIs flow, and formulas from one codebase map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40080" y="2778165"/>
            <a:ext cx="10789920" cy="10058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052485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rPr lang="en-IN" dirty="0"/>
              <a:t>New joiners / onboarding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0" y="3052485"/>
            <a:ext cx="640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rPr lang="en-US" dirty="0"/>
              <a:t>Faster ramp-up on legacy projects without weeks of manual exploration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40080" y="3921165"/>
            <a:ext cx="10789920" cy="10058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195485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rPr lang="en-IN" dirty="0"/>
              <a:t>QA / review teams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4572000" y="4195485"/>
            <a:ext cx="6400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rPr lang="en-US" dirty="0"/>
              <a:t>Evidence-backed APIs, DB usage, and calculations to validate against requirements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40080" y="5064165"/>
            <a:ext cx="10789920" cy="1005840"/>
          </a:xfrm>
          <a:prstGeom prst="roundRect">
            <a:avLst/>
          </a:prstGeom>
          <a:solidFill>
            <a:srgbClr val="16241E"/>
          </a:solidFill>
          <a:ln w="12700">
            <a:solidFill>
              <a:srgbClr val="2A4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5338485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EF0B0"/>
                </a:solidFill>
                <a:latin typeface="Calibri"/>
              </a:defRPr>
            </a:pPr>
            <a:r>
              <a:rPr lang="en-IN" dirty="0"/>
              <a:t>Product / business stakeholders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0" y="5338485"/>
            <a:ext cx="640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DDD2"/>
                </a:solidFill>
                <a:latin typeface="Calibri"/>
              </a:defRPr>
            </a:pPr>
            <a:r>
              <a:rPr lang="en-US" dirty="0"/>
              <a:t>Plain-language module and flow explanations aligned with the real app</a:t>
            </a:r>
            <a:endParaRPr dirty="0"/>
          </a:p>
        </p:txBody>
      </p:sp>
      <p:pic>
        <p:nvPicPr>
          <p:cNvPr id="19" name="Picture 18" descr="brand-logo.png">
            <a:extLst>
              <a:ext uri="{FF2B5EF4-FFF2-40B4-BE49-F238E27FC236}">
                <a16:creationId xmlns:a16="http://schemas.microsoft.com/office/drawing/2014/main" id="{8F662724-BF72-4F5C-8A42-68BFC79CB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34" y="302898"/>
            <a:ext cx="1735566" cy="4321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3FBF6"/>
                </a:solidFill>
                <a:latin typeface="Calibri"/>
              </a:defRPr>
            </a:pPr>
            <a:r>
              <a:rPr sz="3600" dirty="0"/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058400" cy="4288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sz="3200" dirty="0"/>
              <a:t>• </a:t>
            </a:r>
            <a:r>
              <a:rPr lang="en-US" sz="3200" dirty="0"/>
              <a:t>GitHub / GitLab sync — Connect a repo link so </a:t>
            </a:r>
            <a:r>
              <a:rPr lang="en-US" sz="3200" dirty="0" err="1"/>
              <a:t>CodeAtlas</a:t>
            </a:r>
            <a:r>
              <a:rPr lang="en-US" sz="3200" dirty="0"/>
              <a:t> picks up change requests automatically, without re-uploading the zip</a:t>
            </a:r>
          </a:p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lang="en-US" sz="3200" dirty="0"/>
              <a:t>• Project chatbot — Ask questions about that specific scanned project in chat</a:t>
            </a:r>
          </a:p>
          <a:p>
            <a:pPr>
              <a:spcAft>
                <a:spcPts val="1000"/>
              </a:spcAft>
              <a:defRPr sz="1800">
                <a:solidFill>
                  <a:srgbClr val="C5DDD2"/>
                </a:solidFill>
                <a:latin typeface="Calibri"/>
              </a:defRPr>
            </a:pPr>
            <a:r>
              <a:rPr lang="en-US" sz="3200" dirty="0"/>
              <a:t>• Saved project history — Store scan results in a database so past projects stay available and can be opened again in one click</a:t>
            </a:r>
          </a:p>
        </p:txBody>
      </p:sp>
      <p:pic>
        <p:nvPicPr>
          <p:cNvPr id="8" name="Picture 7" descr="brand-logo.png">
            <a:extLst>
              <a:ext uri="{FF2B5EF4-FFF2-40B4-BE49-F238E27FC236}">
                <a16:creationId xmlns:a16="http://schemas.microsoft.com/office/drawing/2014/main" id="{A7A93100-9AB3-4EFC-A098-2388F8AE9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34" y="302898"/>
            <a:ext cx="1735566" cy="4321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EF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EF0B0"/>
                </a:solidFill>
                <a:latin typeface="Calibri"/>
              </a:defRPr>
            </a:pPr>
            <a:r>
              <a:rPr sz="3600" dirty="0"/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31817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5DDD2"/>
                </a:solidFill>
                <a:latin typeface="Calibri"/>
              </a:defRPr>
            </a:pPr>
            <a:r>
              <a:rPr lang="en-US" sz="2400" dirty="0"/>
              <a:t>Understand any</a:t>
            </a:r>
            <a:r>
              <a:rPr lang="en-IN" sz="2400" dirty="0"/>
              <a:t> </a:t>
            </a:r>
            <a:r>
              <a:rPr lang="en-US" sz="2400" dirty="0"/>
              <a:t>codebase, step by step</a:t>
            </a:r>
          </a:p>
        </p:txBody>
      </p:sp>
      <p:pic>
        <p:nvPicPr>
          <p:cNvPr id="10" name="Picture 9" descr="brand-logo.png">
            <a:extLst>
              <a:ext uri="{FF2B5EF4-FFF2-40B4-BE49-F238E27FC236}">
                <a16:creationId xmlns:a16="http://schemas.microsoft.com/office/drawing/2014/main" id="{B2494114-0223-478E-A317-710122C20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84815"/>
            <a:ext cx="7345017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360</Words>
  <Application>Microsoft Office PowerPoint</Application>
  <PresentationFormat>Widescreen</PresentationFormat>
  <Paragraphs>54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Alight</cp:lastModifiedBy>
  <cp:revision>31</cp:revision>
  <dcterms:created xsi:type="dcterms:W3CDTF">2013-01-27T09:14:16Z</dcterms:created>
  <dcterms:modified xsi:type="dcterms:W3CDTF">2026-09-23T09:23:14Z</dcterms:modified>
  <cp:category/>
</cp:coreProperties>
</file>